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OCCUPATIONAL HEALTH · INTERNAL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6400" b="1">
                <a:solidFill>
                  <a:srgbClr val="171B1E"/>
                </a:solidFill>
                <a:latin typeface="Calibri"/>
              </a:rPr>
              <a:t>PME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55636B"/>
                </a:solidFill>
                <a:latin typeface="Calibri"/>
              </a:rPr>
              <a:t>Periodic medical examination tracking for an industrial workforce — who is due, who examined them, and what was decided.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800600"/>
            <a:ext cx="36576" cy="77724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76402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71B1E"/>
                </a:solidFill>
                <a:latin typeface="Calibri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5636B"/>
                </a:solidFill>
                <a:latin typeface="Consolas"/>
              </a:rPr>
              <a:t>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4800600"/>
            <a:ext cx="36576" cy="77724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476402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71B1E"/>
                </a:solidFill>
                <a:latin typeface="Calibri"/>
              </a:rPr>
              <a:t>23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5636B"/>
                </a:solidFill>
                <a:latin typeface="Consolas"/>
              </a:rPr>
              <a:t>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800600"/>
            <a:ext cx="36576" cy="77724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476402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71B1E"/>
                </a:solidFill>
                <a:latin typeface="Calibri"/>
              </a:rPr>
              <a:t>118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5636B"/>
                </a:solidFill>
                <a:latin typeface="Consolas"/>
              </a:rPr>
              <a:t>TESTS 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4800600"/>
            <a:ext cx="36576" cy="77724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476402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71B1E"/>
                </a:solidFill>
                <a:latin typeface="Calibri"/>
              </a:rPr>
              <a:t>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5636B"/>
                </a:solidFill>
                <a:latin typeface="Consolas"/>
              </a:rPr>
              <a:t>SCHEMA VERSIONS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A lapsed examination is silent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55636B"/>
                </a:solidFill>
                <a:latin typeface="Calibri"/>
              </a:rPr>
              <a:t>Periodic medical examinations are periodic by law. The failure mode is not dramatic — nobody refuses an examination. Someone simply falls off the schedule, and nothing says so.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5636B"/>
                </a:solidFill>
                <a:latin typeface="Calibri"/>
              </a:rPr>
              <a:t>A register of past examinations cannot answer the only question that matters: who is overdue right now? Answering it from paper means reading every record and doing arithmetic on every date.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2103120"/>
            <a:ext cx="46177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04304" y="2340864"/>
            <a:ext cx="4142232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BEFORE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A record of the past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Examinations are filed after the fact. Compliance is asserted at audit time and reconstructed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3657600"/>
            <a:ext cx="4617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766560" y="3657600"/>
            <a:ext cx="41148" cy="146304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4304" y="3895344"/>
            <a:ext cx="414223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AFTER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A queue for today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The system computes when each next examination falls due and puts the people behind that date on one screen, worst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WHO USES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Four roles, four different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135727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0704" y="2295144"/>
            <a:ext cx="4660239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HEALTH TEAM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Keeps the schedule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Registers employees, sees who has lapsed, books examinations, cancels with a reason. Cannot record a clinical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2057400"/>
            <a:ext cx="5135727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70751" y="2295144"/>
            <a:ext cx="4660239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DOCTOR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Makes the decision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Works a list of booked examinations and records the outcome against the person's history. Cannot register or cancel.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5135727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0704" y="4078224"/>
            <a:ext cx="4660239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EMPLOYEE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Sees only themselves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One screen: am I fit, when is my next examination, what was said. No lists, and no way to reach another person's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5135727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70751" y="4078224"/>
            <a:ext cx="4660239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ADMINISTRATOR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Accounts and accountability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Creates and revokes staff accounts, and reads the audit trail. Cannot lock themselves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A979E"/>
                </a:solidFill>
                <a:latin typeface="Calibri"/>
              </a:rPr>
              <a:t>Every role's permissions are enforced by the server on each request. The interface simply stops offering what would be refused.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THE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One loop, and it closes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68142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2331720"/>
            <a:ext cx="140710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71B1E"/>
                </a:solidFill>
                <a:latin typeface="Calibri"/>
              </a:rPr>
              <a:t>Register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79E"/>
                </a:solidFill>
                <a:latin typeface="Consolas"/>
              </a:rPr>
              <a:t>Health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595829" y="2148840"/>
            <a:ext cx="168142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5829" y="2148840"/>
            <a:ext cx="36576" cy="960120"/>
          </a:xfrm>
          <a:prstGeom prst="rect">
            <a:avLst/>
          </a:prstGeom>
          <a:solidFill>
            <a:srgbClr val="A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2133" y="2331720"/>
            <a:ext cx="140710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71B1E"/>
                </a:solidFill>
                <a:latin typeface="Calibri"/>
              </a:rPr>
              <a:t>Falls due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79E"/>
                </a:solidFill>
                <a:latin typeface="Consolas"/>
              </a:rPr>
              <a:t>computed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2148840"/>
            <a:ext cx="168142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5002" y="2331720"/>
            <a:ext cx="140710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71B1E"/>
                </a:solidFill>
                <a:latin typeface="Calibri"/>
              </a:rPr>
              <a:t>Book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79E"/>
                </a:solidFill>
                <a:latin typeface="Consolas"/>
              </a:rPr>
              <a:t>Health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1567" y="2148840"/>
            <a:ext cx="168142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7871" y="2331720"/>
            <a:ext cx="140710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71B1E"/>
                </a:solidFill>
                <a:latin typeface="Calibri"/>
              </a:rPr>
              <a:t>Examine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79E"/>
                </a:solidFill>
                <a:latin typeface="Consolas"/>
              </a:rPr>
              <a:t>Doctor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14436" y="2148840"/>
            <a:ext cx="168142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14436" y="2148840"/>
            <a:ext cx="36576" cy="960120"/>
          </a:xfrm>
          <a:prstGeom prst="rect">
            <a:avLst/>
          </a:prstGeom>
          <a:solidFill>
            <a:srgbClr val="126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0740" y="2331720"/>
            <a:ext cx="140710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71B1E"/>
                </a:solidFill>
                <a:latin typeface="Calibri"/>
              </a:rPr>
              <a:t>Record outcome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79E"/>
                </a:solidFill>
                <a:latin typeface="Consolas"/>
              </a:rPr>
              <a:t>Fit / unfit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87305" y="2148840"/>
            <a:ext cx="168142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87305" y="2148840"/>
            <a:ext cx="36576" cy="96012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33609" y="2331720"/>
            <a:ext cx="140710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71B1E"/>
                </a:solidFill>
                <a:latin typeface="Calibri"/>
              </a:rPr>
              <a:t>Next due date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79E"/>
                </a:solidFill>
                <a:latin typeface="Consolas"/>
              </a:rPr>
              <a:t>automatic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5636B"/>
                </a:solidFill>
                <a:latin typeface="Calibri"/>
              </a:rPr>
              <a:t>Completing an examination is what starts the next cycle. A Fit outcome is good for a year and the employee leaves the queue; a provisional one returns them within months.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611880"/>
            <a:ext cx="4617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5636B"/>
                </a:solidFill>
                <a:latin typeface="Calibri"/>
              </a:rPr>
              <a:t>An Unfit outcome sets no due date at all. That is a case to manage, not a booking to make — inventing a routine recall would quietly downgrade a serious finding.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HEALTH TEAM · THE LANDING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171B1E"/>
                </a:solidFill>
                <a:latin typeface="Calibri"/>
              </a:rPr>
              <a:t>Who needs an examination booked</a:t>
            </a:r>
          </a:p>
        </p:txBody>
      </p:sp>
      <p:pic>
        <p:nvPicPr>
          <p:cNvPr id="4" name="Picture 3" descr="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887" y="1783080"/>
            <a:ext cx="5201920" cy="3657600"/>
          </a:xfrm>
          <a:prstGeom prst="rect">
            <a:avLst/>
          </a:prstGeom>
          <a:ln w="9525">
            <a:solidFill>
              <a:srgbClr val="D6DC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The first screen is the work, not a search box. Counts across the top, the people behind them below, and Book today on every row — booking someone removes them from the list, so what remains is what is left to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DOCTOR · RECORDING AN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171B1E"/>
                </a:solidFill>
                <a:latin typeface="Calibri"/>
              </a:rPr>
              <a:t>The decision, beside the trend</a:t>
            </a:r>
          </a:p>
        </p:txBody>
      </p:sp>
      <p:pic>
        <p:nvPicPr>
          <p:cNvPr id="4" name="Picture 3" descr="exam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887" y="1783080"/>
            <a:ext cx="5201920" cy="3657600"/>
          </a:xfrm>
          <a:prstGeom prst="rect">
            <a:avLst/>
          </a:prstGeom>
          <a:ln w="9525">
            <a:solidFill>
              <a:srgbClr val="D6DC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Previous readings sit beside the form, not behind a click — a fitness decision is a judgement about a trend. Remarks become mandatory the moment the decision is anything other than 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EMPLOYEE · THE WHOLE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171B1E"/>
                </a:solidFill>
                <a:latin typeface="Calibri"/>
              </a:rPr>
              <a:t>One question, answered</a:t>
            </a:r>
          </a:p>
        </p:txBody>
      </p:sp>
      <p:pic>
        <p:nvPicPr>
          <p:cNvPr id="4" name="Picture 3" descr="employ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564780" cy="4206240"/>
          </a:xfrm>
          <a:prstGeom prst="rect">
            <a:avLst/>
          </a:prstGeom>
          <a:ln w="9525">
            <a:solidFill>
              <a:srgbClr val="D6DC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846320" y="192024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55636B"/>
                </a:solidFill>
                <a:latin typeface="Calibri"/>
              </a:rPr>
              <a:t>Am I cleared for work? The answer is the first thing on the screen, in words, before any detail. Below it: their own particulars and their own history.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55636B"/>
                </a:solidFill>
                <a:latin typeface="Calibri"/>
              </a:rPr>
              <a:t>Deliberately absent: any list, any search, any other person, and any identifier they would have to type. An employee is shown their record because the system already knows whose it is.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A979E"/>
                </a:solidFill>
                <a:latin typeface="Calibri"/>
              </a:rPr>
              <a:t>"Not yet examined" is worded distinctly from "Fit" — the two mean very different things to someone about to start a shift.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ADMINISTRATOR ·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171B1E"/>
                </a:solidFill>
                <a:latin typeface="Calibri"/>
              </a:rPr>
              <a:t>Every change, and no clinical values</a:t>
            </a:r>
          </a:p>
        </p:txBody>
      </p:sp>
      <p:pic>
        <p:nvPicPr>
          <p:cNvPr id="4" name="Picture 3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135" y="1783080"/>
            <a:ext cx="5709424" cy="3657600"/>
          </a:xfrm>
          <a:prstGeom prst="rect">
            <a:avLst/>
          </a:prstGeom>
          <a:ln w="9525">
            <a:solidFill>
              <a:srgbClr val="D6DC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The trail records which fields changed, never what they changed to. A blood-pressure reading in an audit table would be medical data sitting outside the controls that protect the examination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RULES THE SOFTWARE ENFORCES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Refusals are the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ATTEMPT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965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96596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76856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86584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71B1E"/>
                </a:solidFill>
                <a:latin typeface="Calibri"/>
              </a:rPr>
              <a:t>Book a second open examination for one 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86584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A02418"/>
                </a:solidFill>
                <a:latin typeface="Calibri"/>
              </a:rPr>
              <a:t>Refused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38658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Two open examinations make “their current status” ambiguous. Enforced by the database, not a check two clicks could race past.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35224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71B1E"/>
                </a:solidFill>
                <a:latin typeface="Calibri"/>
              </a:rPr>
              <a:t>Record Unfit with no remarks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4495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A02418"/>
                </a:solidFill>
                <a:latin typeface="Calibri"/>
              </a:rPr>
              <a:t>Refused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449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An outcome with consequences has to carry the reason for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93592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71B1E"/>
                </a:solidFill>
                <a:latin typeface="Calibri"/>
              </a:rPr>
              <a:t>Cancel an examination without a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0332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A02418"/>
                </a:solidFill>
                <a:latin typeface="Calibri"/>
              </a:rPr>
              <a:t>Refused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7033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A cancellation is a gap in the record that someone must be able to explain.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51960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61688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71B1E"/>
                </a:solidFill>
                <a:latin typeface="Calibri"/>
              </a:rPr>
              <a:t>Employee opens another employee's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361688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A02418"/>
                </a:solidFill>
                <a:latin typeface="Calibri"/>
              </a:rPr>
              <a:t>Not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3616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Not “forbidden” — that would confirm the record exists.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910328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0056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71B1E"/>
                </a:solidFill>
                <a:latin typeface="Calibri"/>
              </a:rPr>
              <a:t>Administrator deactivates their own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20056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A02418"/>
                </a:solidFill>
                <a:latin typeface="Calibri"/>
              </a:rPr>
              <a:t>Refused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02005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That is how a deployment ends up with nobody able to administer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568696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78424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71B1E"/>
                </a:solidFill>
                <a:latin typeface="Calibri"/>
              </a:rPr>
              <a:t>Re-open a completed examination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678424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A02418"/>
                </a:solidFill>
                <a:latin typeface="Calibri"/>
              </a:rPr>
              <a:t>Refused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67842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What was decided, and when, stays fixed. A new examination is booked instead.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6227064"/>
            <a:ext cx="10545775" cy="9525"/>
          </a:xfrm>
          <a:prstGeom prst="rect">
            <a:avLst/>
          </a:prstGeom>
          <a:solidFill>
            <a:srgbClr val="D6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Boring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>
                <a:solidFill>
                  <a:srgbClr val="0B6B5F"/>
                </a:solidFill>
                <a:latin typeface="Calibri"/>
              </a:rPr>
              <a:t>—  </a:t>
            </a:r>
            <a:r>
              <a:rPr sz="1300">
                <a:solidFill>
                  <a:srgbClr val="55636B"/>
                </a:solidFill>
                <a:latin typeface="Calibri"/>
              </a:rPr>
              <a:t>Python and PostgreSQL — chosen for longevity, not novelty.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>
                <a:solidFill>
                  <a:srgbClr val="0B6B5F"/>
                </a:solidFill>
                <a:latin typeface="Calibri"/>
              </a:rPr>
              <a:t>—  </a:t>
            </a:r>
            <a:r>
              <a:rPr sz="1300">
                <a:solidFill>
                  <a:srgbClr val="55636B"/>
                </a:solidFill>
                <a:latin typeface="Calibri"/>
              </a:rPr>
              <a:t>No build step in the interface. Deploying it is copying files; there is no toolchain to break in two years.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>
                <a:solidFill>
                  <a:srgbClr val="0B6B5F"/>
                </a:solidFill>
                <a:latin typeface="Calibri"/>
              </a:rPr>
              <a:t>—  </a:t>
            </a:r>
            <a:r>
              <a:rPr sz="1300">
                <a:solidFill>
                  <a:srgbClr val="55636B"/>
                </a:solidFill>
                <a:latin typeface="Calibri"/>
              </a:rPr>
              <a:t>One process serves the interface and the data together, on one port.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>
                <a:solidFill>
                  <a:srgbClr val="0B6B5F"/>
                </a:solidFill>
                <a:latin typeface="Calibri"/>
              </a:rPr>
              <a:t>—  </a:t>
            </a:r>
            <a:r>
              <a:rPr sz="1300">
                <a:solidFill>
                  <a:srgbClr val="55636B"/>
                </a:solidFill>
                <a:latin typeface="Calibri"/>
              </a:rPr>
              <a:t>Runs entirely on your own hardware. No data leaves the 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2103120"/>
            <a:ext cx="46177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04304" y="2340864"/>
            <a:ext cx="4142232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Schema changes are versioned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Every change is a numbered migration, tested to apply and to reverse. A change that cannot be undone is a deployment that cannot be rolled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3886200"/>
            <a:ext cx="4617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04304" y="4123944"/>
            <a:ext cx="414223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History outlives the record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Nothing is hard-deleted. Retiring an employee keeps their examinations and their audit trail intact.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Verified, and honestly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683A"/>
                </a:solidFill>
                <a:latin typeface="Consolas"/>
              </a:rPr>
              <a:t>WORKING AND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The full cycle, end to end, against a real database.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118 automated tests, run on every change, including the database migrations in both directions.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Every screen driven in a real browser as all four roles.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Accounts, roles, revocation, and the audit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01168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5A00"/>
                </a:solidFill>
                <a:latin typeface="Consolas"/>
              </a:rPr>
              <a:t>NOT BUILT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377440"/>
            <a:ext cx="46177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Sign-in from a browser. The server verifies credentials correctly; the login page that obtains them is not finished. This is the one thing between here and real users.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Reminders. Due dates are computed and visible, but nothing sends anything to anybody yet.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>
                <a:solidFill>
                  <a:srgbClr val="0B6B5F"/>
                </a:solidFill>
                <a:latin typeface="Calibri"/>
              </a:rPr>
              <a:t>—  </a:t>
            </a:r>
            <a:r>
              <a:rPr sz="1200">
                <a:solidFill>
                  <a:srgbClr val="55636B"/>
                </a:solidFill>
                <a:latin typeface="Calibri"/>
              </a:rPr>
              <a:t>Attachments, and a richer set of recorded measurements.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6B5F"/>
                </a:solidFill>
                <a:latin typeface="Consolas"/>
              </a:rPr>
              <a:t>WHAT I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171B1E"/>
                </a:solidFill>
                <a:latin typeface="Calibri"/>
              </a:rPr>
              <a:t>Three decisions, then it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339333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41148" cy="3017520"/>
          </a:xfrm>
          <a:prstGeom prst="rect">
            <a:avLst/>
          </a:prstGeom>
          <a:solidFill>
            <a:srgbClr val="A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295144"/>
            <a:ext cx="291785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DECISION ONE · HIGHEST PRIORITY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Are the examination intervals correct?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The software recalls a fit employee after 12 months and a provisionally fit one after 3. I chose those numbers. For a hazardous process they may be set by regulation — and they should be right before real records exist. They are configuration, not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99178" y="2057400"/>
            <a:ext cx="339333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99178" y="2057400"/>
            <a:ext cx="41148" cy="301752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922" y="2295144"/>
            <a:ext cx="291785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DECISION TWO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How do people sign in?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Sign-in currently depends on an external service, so an internet connection is needed to log in to an otherwise self-contained system. Using the existing plant directory instead would remove that, and mean no new passwords for anyone.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5396" y="2057400"/>
            <a:ext cx="339333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975396" y="2057400"/>
            <a:ext cx="41148" cy="301752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3140" y="2295144"/>
            <a:ext cx="291785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50" b="1">
                <a:solidFill>
                  <a:srgbClr val="8A979E"/>
                </a:solidFill>
                <a:latin typeface="Consolas"/>
              </a:rPr>
              <a:t>DECISION THREE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B1E"/>
                </a:solidFill>
                <a:latin typeface="Calibri"/>
              </a:rPr>
              <a:t>Who owns backups?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636B"/>
                </a:solidFill>
                <a:latin typeface="Calibri"/>
              </a:rPr>
              <a:t>On your own hardware this is nobody's job until it is named as somebody's. A nightly copy is scripted; a restore has never been performed. An untested backup is not a backup.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A979E"/>
                </a:solidFill>
                <a:latin typeface="Consolas"/>
              </a:rPr>
              <a:t>Source, documentation and deployment runbook: github.com/nichepah/pme-care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